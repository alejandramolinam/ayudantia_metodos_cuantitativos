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9" r:id="rId11"/>
    <p:sldId id="270" r:id="rId12"/>
    <p:sldId id="271" r:id="rId13"/>
    <p:sldId id="272" r:id="rId14"/>
    <p:sldId id="273" r:id="rId15"/>
    <p:sldId id="274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2836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42976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400" i="1" dirty="0">
                <a:solidFill>
                  <a:srgbClr val="CADCFC">
                    <a:alpha val="2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Xβ + 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Ayudantía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para la Prueba 1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688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rgbClr val="CADCF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2800" dirty="0">
                <a:solidFill>
                  <a:srgbClr val="CADCF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CADCF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Cuantitativos</a:t>
            </a:r>
            <a:endParaRPr lang="en-US" sz="2800" dirty="0">
              <a:solidFill>
                <a:srgbClr val="CADCFC">
                  <a:alpha val="75000"/>
                </a:srgb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800" dirty="0" err="1">
                <a:solidFill>
                  <a:srgbClr val="CADCF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Doctorado</a:t>
            </a:r>
            <a:r>
              <a:rPr lang="en-US" sz="2800" dirty="0">
                <a:solidFill>
                  <a:srgbClr val="CADCF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Políticas </a:t>
            </a:r>
            <a:r>
              <a:rPr lang="en-US" sz="2800" dirty="0" err="1">
                <a:solidFill>
                  <a:srgbClr val="CADCF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Públicas</a:t>
            </a:r>
            <a:r>
              <a:rPr lang="en-US" sz="2800" dirty="0">
                <a:solidFill>
                  <a:srgbClr val="CADCF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UDD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ADCF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</a:t>
            </a:r>
            <a:r>
              <a:rPr lang="en-US" sz="2800" dirty="0" err="1">
                <a:solidFill>
                  <a:srgbClr val="CADCF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</a:t>
            </a:r>
            <a:r>
              <a:rPr lang="en-US" sz="2800" dirty="0">
                <a:solidFill>
                  <a:srgbClr val="CADCF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aleatorias y estimación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17282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Momentos</a:t>
            </a:r>
            <a:endParaRPr lang="en-US" sz="1200" dirty="0"/>
          </a:p>
        </p:txBody>
      </p:sp>
      <p:pic>
        <p:nvPicPr>
          <p:cNvPr id="6" name="Image 0" descr="C:\Users\aleja\AppData\Local\Temp\claude\G--Otros-ordenadores-Mi-port-til-UDD-DPP-Metodos-cuantitativos-2026\8bd261c9-5169-41cb-9552-7d4577992c2c\scratchpad\img\mo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207" y="2002536"/>
            <a:ext cx="3696145" cy="5303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5877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cov(X,Y) = E(XY) − E(X)E(Y)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868680" y="32369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condicional</a:t>
            </a:r>
            <a:endParaRPr lang="en-US" sz="1200" dirty="0"/>
          </a:p>
        </p:txBody>
      </p:sp>
      <p:pic>
        <p:nvPicPr>
          <p:cNvPr id="10" name="Image 1" descr="C:\Users\aleja\AppData\Local\Temp\claude\G--Otros-ordenadores-Mi-port-til-UDD-DPP-Metodos-cuantitativos-2026\8bd261c9-5169-41cb-9552-7d4577992c2c\scratchpad\img\mediaco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8695" y="3511296"/>
            <a:ext cx="2109169" cy="5303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8680" y="40965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esperanzas iteradas: E[E(Y|X)] = E(Y)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6177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9"/>
          <p:cNvSpPr txBox="1"/>
          <p:nvPr/>
        </p:nvSpPr>
        <p:spPr>
          <a:xfrm>
            <a:off x="868680" y="474573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poblacional</a:t>
            </a:r>
            <a:endParaRPr lang="en-US" sz="1200" dirty="0"/>
          </a:p>
        </p:txBody>
      </p:sp>
      <p:pic>
        <p:nvPicPr>
          <p:cNvPr id="14" name="Image 2" descr="C:\Users\aleja\AppData\Local\Temp\claude\G--Otros-ordenadores-Mi-port-til-UDD-DPP-Metodos-cuantitativos-2026\8bd261c9-5169-41cb-9552-7d4577992c2c\scratchpad\img\betapo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2092" y="5020056"/>
            <a:ext cx="922375" cy="3931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68680" y="54681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regresión es la media condicional.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92240" y="1600200"/>
            <a:ext cx="5029200" cy="4251960"/>
          </a:xfrm>
          <a:prstGeom prst="roundRect">
            <a:avLst>
              <a:gd name="adj" fmla="val 1720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2"/>
          <p:cNvSpPr txBox="1"/>
          <p:nvPr/>
        </p:nvSpPr>
        <p:spPr>
          <a:xfrm>
            <a:off x="676656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Podemos </a:t>
            </a:r>
            <a:r>
              <a:rPr lang="en-US" sz="19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6766560" y="2258568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Marginales a partir de una tabla conjunta.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Independencia: comparar f(x,y) con f(x)·f(y) en todas las celdas.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y varianza condicionales; ¿es constante la varianza?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estimador es insesgado si su esperanza coincide con el parámetro; eficiente si tiene la menor varianza; consistente si converge a él.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estimador y el p-valor son variables aleatorias: cambian de muestra en muestra.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bivariado y el modelo en desvíos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17282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Estimadores MICO</a:t>
            </a:r>
            <a:endParaRPr lang="en-US" sz="1200" dirty="0"/>
          </a:p>
        </p:txBody>
      </p:sp>
      <p:pic>
        <p:nvPicPr>
          <p:cNvPr id="6" name="Image 0" descr="C:\Users\aleja\AppData\Local\Temp\claude\G--Otros-ordenadores-Mi-port-til-UDD-DPP-Metodos-cuantitativos-2026\8bd261c9-5169-41cb-9552-7d4577992c2c\scratchpad\img\micob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488" y="2002536"/>
            <a:ext cx="2195583" cy="5303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5877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xᵢ = Xᵢ − media de X  e  yᵢ = Yᵢ − media de 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868680" y="32369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Ecuaciones normales</a:t>
            </a:r>
            <a:endParaRPr lang="en-US" sz="1200" dirty="0"/>
          </a:p>
        </p:txBody>
      </p:sp>
      <p:pic>
        <p:nvPicPr>
          <p:cNvPr id="10" name="Image 1" descr="C:\Users\aleja\AppData\Local\Temp\claude\G--Otros-ordenadores-Mi-port-til-UDD-DPP-Metodos-cuantitativos-2026\8bd261c9-5169-41cb-9552-7d4577992c2c\scratchpad\img\norma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886" y="3511296"/>
            <a:ext cx="3428787" cy="5303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8680" y="40965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un supuesto: son la solución del problema de mínimos.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6177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9"/>
          <p:cNvSpPr txBox="1"/>
          <p:nvPr/>
        </p:nvSpPr>
        <p:spPr>
          <a:xfrm>
            <a:off x="868680" y="474573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200" dirty="0"/>
          </a:p>
        </p:txBody>
      </p:sp>
      <p:pic>
        <p:nvPicPr>
          <p:cNvPr id="14" name="Image 2" descr="C:\Users\aleja\AppData\Local\Temp\claude\G--Otros-ordenadores-Mi-port-til-UDD-DPP-Metodos-cuantitativos-2026\8bd261c9-5169-41cb-9552-7d4577992c2c\scratchpad\img\varbi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3679" y="5020056"/>
            <a:ext cx="2979202" cy="7040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492240" y="1600200"/>
            <a:ext cx="5029200" cy="4251960"/>
          </a:xfrm>
          <a:prstGeom prst="roundRect">
            <a:avLst>
              <a:gd name="adj" fmla="val 1720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1"/>
          <p:cNvSpPr txBox="1"/>
          <p:nvPr/>
        </p:nvSpPr>
        <p:spPr>
          <a:xfrm>
            <a:off x="676656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</a:t>
            </a:r>
            <a:r>
              <a:rPr lang="en-US" sz="19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</a:t>
            </a: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usar el modelo en desvíos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766560" y="2258568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 las medias elimina el intercepto: queda un sistema sólo en las pendientes.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 pasa por el punto de medias, y de ahí se recupera el intercepto.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a invertir baja de k×k a (k−1)×(k−1): en la prueba, de 3×3 a 2×2.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R² depende sólo de las pendientes: vale cero si todas son cero, por significativo que sea el intercepto.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beta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172821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Bivariado, en desvíos</a:t>
            </a:r>
            <a:endParaRPr lang="en-US" sz="1200" dirty="0"/>
          </a:p>
        </p:txBody>
      </p:sp>
      <p:pic>
        <p:nvPicPr>
          <p:cNvPr id="6" name="Image 0" descr="C:\Users\aleja\AppData\Local\Temp\claude\G--Otros-ordenadores-Mi-port-til-UDD-DPP-Metodos-cuantitativos-2026\8bd261c9-5169-41cb-9552-7d4577992c2c\scratchpad\img\betades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449" y="2002536"/>
            <a:ext cx="999062" cy="5760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63347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xᵢ e yᵢ son las variables menos su media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6492240" y="172821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Bivariado, con sumas crudas</a:t>
            </a:r>
            <a:endParaRPr lang="en-US" sz="1200" dirty="0"/>
          </a:p>
        </p:txBody>
      </p:sp>
      <p:pic>
        <p:nvPicPr>
          <p:cNvPr id="10" name="Image 1" descr="C:\Users\aleja\AppData\Local\Temp\claude\G--Otros-ordenadores-Mi-port-til-UDD-DPP-Metodos-cuantitativos-2026\8bd261c9-5169-41cb-9552-7d4577992c2c\scratchpad\img\betacru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6339" y="2002536"/>
            <a:ext cx="155240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92240" y="263347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enunciado da ΣX, ΣY, ΣXY y ΣX² sin centrar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2004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9"/>
          <p:cNvSpPr txBox="1"/>
          <p:nvPr/>
        </p:nvSpPr>
        <p:spPr>
          <a:xfrm>
            <a:off x="868680" y="332841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Multivariado, matricial</a:t>
            </a:r>
            <a:endParaRPr lang="en-US" sz="1200" dirty="0"/>
          </a:p>
        </p:txBody>
      </p:sp>
      <p:pic>
        <p:nvPicPr>
          <p:cNvPr id="14" name="Image 2" descr="C:\Users\aleja\AppData\Local\Temp\claude\G--Otros-ordenadores-Mi-port-til-UDD-DPP-Metodos-cuantitativos-2026\8bd261c9-5169-41cb-9552-7d4577992c2c\scratchpad\img\betam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0537" y="3602736"/>
            <a:ext cx="2516886" cy="5760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68680" y="423367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todos los coeficientes de una vez, incluido el intercepto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32004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2"/>
          <p:cNvSpPr txBox="1"/>
          <p:nvPr/>
        </p:nvSpPr>
        <p:spPr>
          <a:xfrm>
            <a:off x="6492240" y="332841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Multivariado, en desvíos</a:t>
            </a:r>
            <a:endParaRPr lang="en-US" sz="1200" dirty="0"/>
          </a:p>
        </p:txBody>
      </p:sp>
      <p:pic>
        <p:nvPicPr>
          <p:cNvPr id="18" name="Image 3" descr="C:\Users\aleja\AppData\Local\Temp\claude\G--Otros-ordenadores-Mi-port-til-UDD-DPP-Metodos-cuantitativos-2026\8bd261c9-5169-41cb-9552-7d4577992c2c\scratchpad\img\betadesv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120" y="3602736"/>
            <a:ext cx="1948839" cy="5760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92240" y="423367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las pendientes: la matriz a invertir es (k−1)×(k−1)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475488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5"/>
          <p:cNvSpPr txBox="1"/>
          <p:nvPr/>
        </p:nvSpPr>
        <p:spPr>
          <a:xfrm>
            <a:off x="868680" y="4882896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intercepto se recupera desde las medias</a:t>
            </a:r>
            <a:endParaRPr lang="en-US" sz="1200" dirty="0"/>
          </a:p>
        </p:txBody>
      </p:sp>
      <p:pic>
        <p:nvPicPr>
          <p:cNvPr id="22" name="Image 4" descr="C:\Users\aleja\AppData\Local\Temp\claude\G--Otros-ordenadores-Mi-port-til-UDD-DPP-Metodos-cuantitativos-2026\8bd261c9-5169-41cb-9552-7d4577992c2c\scratchpad\img\intercept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9909" y="5157216"/>
            <a:ext cx="3221701" cy="48463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68680" y="56967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poblacional de la pendiente es β = cov(X,Y) / Var(X).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multivariado y las propiedades de MICO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17282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Estimador</a:t>
            </a:r>
            <a:endParaRPr lang="en-US" sz="1200" dirty="0"/>
          </a:p>
        </p:txBody>
      </p:sp>
      <p:pic>
        <p:nvPicPr>
          <p:cNvPr id="6" name="Image 0" descr="C:\Users\aleja\AppData\Local\Temp\claude\G--Otros-ordenadores-Mi-port-til-UDD-DPP-Metodos-cuantitativos-2026\8bd261c9-5169-41cb-9552-7d4577992c2c\scratchpad\img\betam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466" y="2002536"/>
            <a:ext cx="1917627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4963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Xβ + u, con n observaciones y k parámetros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868680" y="314553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Ortogonalidad</a:t>
            </a:r>
            <a:endParaRPr lang="en-US" sz="1200" dirty="0"/>
          </a:p>
        </p:txBody>
      </p:sp>
      <p:pic>
        <p:nvPicPr>
          <p:cNvPr id="10" name="Image 1" descr="C:\Users\aleja\AppData\Local\Temp\claude\G--Otros-ordenadores-Mi-port-til-UDD-DPP-Metodos-cuantitativos-2026\8bd261c9-5169-41cb-9552-7d4577992c2c\scratchpad\img\ort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7172" y="3419856"/>
            <a:ext cx="812216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8680" y="38221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intercepto, implica que los residuos suman cero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34340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9"/>
          <p:cNvSpPr txBox="1"/>
          <p:nvPr/>
        </p:nvSpPr>
        <p:spPr>
          <a:xfrm>
            <a:off x="868680" y="44714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</a:t>
            </a:r>
            <a:endParaRPr lang="en-US" sz="1200" dirty="0"/>
          </a:p>
        </p:txBody>
      </p:sp>
      <p:pic>
        <p:nvPicPr>
          <p:cNvPr id="14" name="Image 2" descr="C:\Users\aleja\AppData\Local\Temp\claude\G--Otros-ordenadores-Mi-port-til-UDD-DPP-Metodos-cuantitativos-2026\8bd261c9-5169-41cb-9552-7d4577992c2c\scratchpad\img\prop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551" y="4745736"/>
            <a:ext cx="4807458" cy="5760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68680" y="537667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Gauss-Markov: MICO es el de mínima varianza entre los lineales insesgados.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varianza de los errores y la de los estimadores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172821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estimada de los errores</a:t>
            </a:r>
            <a:endParaRPr lang="en-US" sz="1200" dirty="0"/>
          </a:p>
        </p:txBody>
      </p:sp>
      <p:pic>
        <p:nvPicPr>
          <p:cNvPr id="6" name="Image 0" descr="C:\Users\aleja\AppData\Local\Temp\claude\G--Otros-ordenadores-Mi-port-til-UDD-DPP-Metodos-cuantitativos-2026\8bd261c9-5169-41cb-9552-7d4577992c2c\scratchpad\img\sigmag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452" y="2002536"/>
            <a:ext cx="1591056" cy="5303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58775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bivariado, n − 2. Su raíz es el error estándar de la regresión.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6492240" y="172821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varianzas y covarianzas</a:t>
            </a:r>
            <a:endParaRPr lang="en-US" sz="1200" dirty="0"/>
          </a:p>
        </p:txBody>
      </p:sp>
      <p:pic>
        <p:nvPicPr>
          <p:cNvPr id="10" name="Image 1" descr="C:\Users\aleja\AppData\Local\Temp\claude\G--Otros-ordenadores-Mi-port-til-UDD-DPP-Metodos-cuantitativos-2026\8bd261c9-5169-41cb-9552-7d4577992c2c\scratchpad\img\varbm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199" y="2002536"/>
            <a:ext cx="1938682" cy="5303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92240" y="258775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las variables en desvíos, la de las pendientes usa (x′x)⁻¹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1546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9"/>
          <p:cNvSpPr txBox="1"/>
          <p:nvPr/>
        </p:nvSpPr>
        <p:spPr>
          <a:xfrm>
            <a:off x="868680" y="32826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bivariado</a:t>
            </a:r>
            <a:endParaRPr lang="en-US" sz="1200" dirty="0"/>
          </a:p>
        </p:txBody>
      </p:sp>
      <p:pic>
        <p:nvPicPr>
          <p:cNvPr id="14" name="Image 2" descr="C:\Users\aleja\AppData\Local\Temp\claude\G--Otros-ordenadores-Mi-port-til-UDD-DPP-Metodos-cuantitativos-2026\8bd261c9-5169-41cb-9552-7d4577992c2c\scratchpad\img\varbbi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6157" y="3557016"/>
            <a:ext cx="1125645" cy="53035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68680" y="414223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observaciones o más varianza en X ⇒ más precisión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31546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2"/>
          <p:cNvSpPr txBox="1"/>
          <p:nvPr/>
        </p:nvSpPr>
        <p:spPr>
          <a:xfrm>
            <a:off x="6492240" y="32826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estándar de un coeficiente</a:t>
            </a:r>
            <a:endParaRPr lang="en-US" sz="1200" dirty="0"/>
          </a:p>
        </p:txBody>
      </p:sp>
      <p:pic>
        <p:nvPicPr>
          <p:cNvPr id="18" name="Image 3" descr="C:\Users\aleja\AppData\Local\Temp\claude\G--Otros-ordenadores-Mi-port-til-UDD-DPP-Metodos-cuantitativos-2026\8bd261c9-5169-41cb-9552-7d4577992c2c\scratchpad\img\eej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9518" y="3557016"/>
            <a:ext cx="2866044" cy="53035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92240" y="414223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raíz del elemento j de la diagonal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470916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5"/>
          <p:cNvSpPr txBox="1"/>
          <p:nvPr/>
        </p:nvSpPr>
        <p:spPr>
          <a:xfrm>
            <a:off x="868680" y="4837176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de una combinación de coeficientes</a:t>
            </a:r>
            <a:endParaRPr lang="en-US" sz="1200" dirty="0"/>
          </a:p>
        </p:txBody>
      </p:sp>
      <p:pic>
        <p:nvPicPr>
          <p:cNvPr id="22" name="Image 4" descr="C:\Users\aleja\AppData\Local\Temp\claude\G--Otros-ordenadores-Mi-port-til-UDD-DPP-Metodos-cuantitativos-2026\8bd261c9-5169-41cb-9552-7d4577992c2c\scratchpad\img\varcom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6698" y="5111496"/>
            <a:ext cx="1788125" cy="48463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68680" y="565099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las covarianzas: no basta con los errores estándar individuales.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tres sumas de cuadrados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17282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(STC)</a:t>
            </a:r>
            <a:endParaRPr lang="en-US" sz="1200" dirty="0"/>
          </a:p>
        </p:txBody>
      </p:sp>
      <p:pic>
        <p:nvPicPr>
          <p:cNvPr id="6" name="Image 0" descr="C:\Users\aleja\AppData\Local\Temp\claude\G--Otros-ordenadores-Mi-port-til-UDD-DPP-Metodos-cuantitativos-2026\8bd261c9-5169-41cb-9552-7d4577992c2c\scratchpad\img\st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620" y="2002536"/>
            <a:ext cx="2845319" cy="5303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5877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depende de Y: no cambia al cambiar de modelo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868680" y="32369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Explicada (SEC)</a:t>
            </a:r>
            <a:endParaRPr lang="en-US" sz="1200" dirty="0"/>
          </a:p>
        </p:txBody>
      </p:sp>
      <p:pic>
        <p:nvPicPr>
          <p:cNvPr id="10" name="Image 1" descr="C:\Users\aleja\AppData\Local\Temp\claude\G--Otros-ordenadores-Mi-port-til-UDD-DPP-Metodos-cuantitativos-2026\8bd261c9-5169-41cb-9552-7d4577992c2c\scratchpad\img\s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612" y="3511296"/>
            <a:ext cx="2213336" cy="5303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8680" y="40965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bivariado: la pendiente al cuadrado por Σx²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61772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9"/>
          <p:cNvSpPr txBox="1"/>
          <p:nvPr/>
        </p:nvSpPr>
        <p:spPr>
          <a:xfrm>
            <a:off x="868680" y="474573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(SRC)</a:t>
            </a:r>
            <a:endParaRPr lang="en-US" sz="1200" dirty="0"/>
          </a:p>
        </p:txBody>
      </p:sp>
      <p:pic>
        <p:nvPicPr>
          <p:cNvPr id="14" name="Image 2" descr="C:\Users\aleja\AppData\Local\Temp\claude\G--Otros-ordenadores-Mi-port-til-UDD-DPP-Metodos-cuantitativos-2026\8bd261c9-5169-41cb-9552-7d4577992c2c\scratchpad\img\sr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8896" y="5020056"/>
            <a:ext cx="36687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Bondad de </a:t>
            </a: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177393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Descomposición</a:t>
            </a:r>
            <a:endParaRPr lang="en-US" sz="1200" dirty="0"/>
          </a:p>
        </p:txBody>
      </p:sp>
      <p:pic>
        <p:nvPicPr>
          <p:cNvPr id="6" name="Image 0" descr="C:\Users\aleja\AppData\Local\Temp\claude\G--Otros-ordenadores-Mi-port-til-UDD-DPP-Metodos-cuantitativos-2026\8bd261c9-5169-41cb-9552-7d4577992c2c\scratchpad\img\de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704" y="2048256"/>
            <a:ext cx="2359152" cy="3931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4963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sólo si el modelo tiene intercepto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868680" y="314553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determinación</a:t>
            </a:r>
            <a:endParaRPr lang="en-US" sz="1200" dirty="0"/>
          </a:p>
        </p:txBody>
      </p:sp>
      <p:pic>
        <p:nvPicPr>
          <p:cNvPr id="10" name="Image 1" descr="C:\Users\aleja\AppData\Local\Temp\claude\G--Otros-ordenadores-Mi-port-til-UDD-DPP-Metodos-cuantitativos-2026\8bd261c9-5169-41cb-9552-7d4577992c2c\scratchpad\img\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111" y="3419856"/>
            <a:ext cx="2766337" cy="7498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" y="443484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8"/>
          <p:cNvSpPr txBox="1"/>
          <p:nvPr/>
        </p:nvSpPr>
        <p:spPr>
          <a:xfrm>
            <a:off x="868680" y="456285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ajustado</a:t>
            </a:r>
            <a:endParaRPr lang="en-US" sz="1200" dirty="0"/>
          </a:p>
        </p:txBody>
      </p:sp>
      <p:pic>
        <p:nvPicPr>
          <p:cNvPr id="13" name="Image 2" descr="C:\Users\aleja\AppData\Local\Temp\claude\G--Otros-ordenadores-Mi-port-til-UDD-DPP-Metodos-cuantitativos-2026\8bd261c9-5169-41cb-9552-7d4577992c2c\scratchpad\img\r2adj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3851" y="4837176"/>
            <a:ext cx="2098857" cy="4846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68680" y="537667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Castiga por cada parámetro agregado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92240" y="164592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1"/>
          <p:cNvSpPr txBox="1"/>
          <p:nvPr/>
        </p:nvSpPr>
        <p:spPr>
          <a:xfrm>
            <a:off x="676656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</a:t>
            </a:r>
            <a:r>
              <a:rPr lang="en-US" sz="19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</a:t>
            </a: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usar el R2 </a:t>
            </a:r>
            <a:r>
              <a:rPr lang="en-US" sz="19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ajustado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766560" y="2304288"/>
            <a:ext cx="44805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agregar un regresor, la SRC nunca sube: MICO minimiza sobre más parámetros.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lo tanto el R² nunca baja, aunque la variable sea puro ruido.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R² ajustado sí puede bajar: es el que sirve para comparar modelos con distinto k.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R² alto no valida nada, y uno bajo no invalida: con datos de personas, 0,2 es normal.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Inferencia: </a:t>
            </a: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estadísticos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 y 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177393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individual</a:t>
            </a:r>
            <a:endParaRPr lang="en-US" sz="1200" dirty="0"/>
          </a:p>
        </p:txBody>
      </p:sp>
      <p:pic>
        <p:nvPicPr>
          <p:cNvPr id="6" name="Image 0" descr="C:\Users\aleja\AppData\Local\Temp\claude\G--Otros-ordenadores-Mi-port-til-UDD-DPP-Metodos-cuantitativos-2026\8bd261c9-5169-41cb-9552-7d4577992c2c\scratchpad\img\tst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494" y="2048256"/>
            <a:ext cx="2151012" cy="7498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3063240"/>
            <a:ext cx="5577840" cy="685800"/>
          </a:xfrm>
          <a:prstGeom prst="roundRect">
            <a:avLst>
              <a:gd name="adj" fmla="val 10667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 txBox="1"/>
          <p:nvPr/>
        </p:nvSpPr>
        <p:spPr>
          <a:xfrm>
            <a:off x="868680" y="3154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al 95%</a:t>
            </a:r>
            <a:endParaRPr lang="en-US" sz="1200" dirty="0"/>
          </a:p>
        </p:txBody>
      </p:sp>
      <p:pic>
        <p:nvPicPr>
          <p:cNvPr id="9" name="Image 1" descr="C:\Users\aleja\AppData\Local\Temp\claude\G--Otros-ordenadores-Mi-port-til-UDD-DPP-Metodos-cuantitativos-2026\8bd261c9-5169-41cb-9552-7d4577992c2c\scratchpad\img\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3182112"/>
            <a:ext cx="1758142" cy="4114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3886200"/>
            <a:ext cx="5577840" cy="1143000"/>
          </a:xfrm>
          <a:prstGeom prst="roundRect">
            <a:avLst>
              <a:gd name="adj" fmla="val 6400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7"/>
          <p:cNvSpPr txBox="1"/>
          <p:nvPr/>
        </p:nvSpPr>
        <p:spPr>
          <a:xfrm>
            <a:off x="868680" y="401421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conjuntas</a:t>
            </a:r>
            <a:endParaRPr lang="en-US" sz="1200" dirty="0"/>
          </a:p>
        </p:txBody>
      </p:sp>
      <p:pic>
        <p:nvPicPr>
          <p:cNvPr id="12" name="Image 2" descr="C:\Users\aleja\AppData\Local\Temp\claude\G--Otros-ordenadores-Mi-port-til-UDD-DPP-Metodos-cuantitativos-2026\8bd261c9-5169-41cb-9552-7d4577992c2c\scratchpad\img\fwa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8186" y="4288536"/>
            <a:ext cx="3881628" cy="61264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40080" y="5120640"/>
            <a:ext cx="5577840" cy="1143000"/>
          </a:xfrm>
          <a:prstGeom prst="roundRect">
            <a:avLst>
              <a:gd name="adj" fmla="val 6400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9"/>
          <p:cNvSpPr txBox="1"/>
          <p:nvPr/>
        </p:nvSpPr>
        <p:spPr>
          <a:xfrm>
            <a:off x="868680" y="524865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sumas de residuos (restringido contra libre)</a:t>
            </a:r>
            <a:endParaRPr lang="en-US" sz="1200" dirty="0"/>
          </a:p>
        </p:txBody>
      </p:sp>
      <p:pic>
        <p:nvPicPr>
          <p:cNvPr id="15" name="Image 3" descr="C:\Users\aleja\AppData\Local\Temp\claude\G--Otros-ordenadores-Mi-port-til-UDD-DPP-Metodos-cuantitativos-2026\8bd261c9-5169-41cb-9552-7d4577992c2c\scratchpad\img\fsr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4956" y="5522976"/>
            <a:ext cx="1688088" cy="61264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583680" y="1645920"/>
            <a:ext cx="4937760" cy="4526280"/>
          </a:xfrm>
          <a:prstGeom prst="roundRect">
            <a:avLst>
              <a:gd name="adj" fmla="val 1616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2"/>
          <p:cNvSpPr txBox="1"/>
          <p:nvPr/>
        </p:nvSpPr>
        <p:spPr>
          <a:xfrm>
            <a:off x="6858000" y="2304288"/>
            <a:ext cx="4389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sola restricción, t² = F. Los dos p-valores coinciden.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 bilateral rechaza βⱼ = c exactamente cuando c queda fuera del intervalo de confianza.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Significancia global: F = [R²/(k−1)] / [(1−R²)/(n−k)], y de ahí se puede despejar el R².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aleatorias y esperanza condicional</a:t>
            </a:r>
            <a:endParaRPr lang="en-US" sz="2000" dirty="0"/>
          </a:p>
        </p:txBody>
      </p:sp>
      <p:pic>
        <p:nvPicPr>
          <p:cNvPr id="4" name="Image 0" descr="C:\Users\aleja\AppData\Local\Temp\claude\G--Otros-ordenadores-Mi-port-til-UDD-DPP-Metodos-cuantitativos-2026\8bd261c9-5169-41cb-9552-7d4577992c2c\scratchpad\img\p1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72768"/>
            <a:ext cx="4937760" cy="62844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4937760" cy="153619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= 450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= 550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= 650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946343" y="1572768"/>
            <a:ext cx="5605272" cy="3990458"/>
          </a:xfrm>
          <a:prstGeom prst="roundRect">
            <a:avLst>
              <a:gd name="adj" fmla="val 1833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0" name="Image 1" descr="C:\Users\aleja\AppData\Local\Temp\claude\G--Otros-ordenadores-Mi-port-til-UDD-DPP-Metodos-cuantitativos-2026\8bd261c9-5169-41cb-9552-7d4577992c2c\scratchpad\img\p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304288"/>
            <a:ext cx="5056632" cy="429048"/>
          </a:xfrm>
          <a:prstGeom prst="rect">
            <a:avLst/>
          </a:prstGeom>
        </p:spPr>
      </p:pic>
      <p:pic>
        <p:nvPicPr>
          <p:cNvPr id="11" name="Image 2" descr="C:\Users\aleja\AppData\Local\Temp\claude\G--Otros-ordenadores-Mi-port-til-UDD-DPP-Metodos-cuantitativos-2026\8bd261c9-5169-41cb-9552-7d4577992c2c\scratchpad\img\p1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888784"/>
            <a:ext cx="5056632" cy="223718"/>
          </a:xfrm>
          <a:prstGeom prst="rect">
            <a:avLst/>
          </a:prstGeom>
        </p:spPr>
      </p:pic>
      <p:pic>
        <p:nvPicPr>
          <p:cNvPr id="12" name="Image 3" descr="C:\Users\aleja\AppData\Local\Temp\claude\G--Otros-ordenadores-Mi-port-til-UDD-DPP-Metodos-cuantitativos-2026\8bd261c9-5169-41cb-9552-7d4577992c2c\scratchpad\img\p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267949"/>
            <a:ext cx="5056632" cy="432112"/>
          </a:xfrm>
          <a:prstGeom prst="rect">
            <a:avLst/>
          </a:prstGeom>
        </p:spPr>
      </p:pic>
      <p:pic>
        <p:nvPicPr>
          <p:cNvPr id="13" name="Image 4" descr="C:\Users\aleja\AppData\Local\Temp\claude\G--Otros-ordenadores-Mi-port-til-UDD-DPP-Metodos-cuantitativos-2026\8bd261c9-5169-41cb-9552-7d4577992c2c\scratchpad\img\p1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3855509"/>
            <a:ext cx="5056632" cy="429048"/>
          </a:xfrm>
          <a:prstGeom prst="rect">
            <a:avLst/>
          </a:prstGeom>
        </p:spPr>
      </p:pic>
      <p:pic>
        <p:nvPicPr>
          <p:cNvPr id="14" name="Image 5" descr="C:\Users\aleja\AppData\Local\Temp\claude\G--Otros-ordenadores-Mi-port-til-UDD-DPP-Metodos-cuantitativos-2026\8bd261c9-5169-41cb-9552-7d4577992c2c\scratchpad\img\p1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4440005"/>
            <a:ext cx="5056632" cy="8489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MICO </a:t>
            </a:r>
            <a:r>
              <a:rPr lang="en-US" sz="2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bivariado</a:t>
            </a:r>
            <a:endParaRPr lang="en-US" sz="2000" dirty="0"/>
          </a:p>
        </p:txBody>
      </p:sp>
      <p:pic>
        <p:nvPicPr>
          <p:cNvPr id="4" name="Image 0" descr="C:\Users\aleja\AppData\Local\Temp\claude\G--Otros-ordenadores-Mi-port-til-UDD-DPP-Metodos-cuantitativos-2026\8bd261c9-5169-41cb-9552-7d4577992c2c\scratchpad\img\p2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72768"/>
            <a:ext cx="4937760" cy="421954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21408"/>
          <a:ext cx="4937760" cy="10972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Xᵢ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Yᵢ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Image 1" descr="C:\Users\aleja\AppData\Local\Temp\claude\G--Otros-ordenadores-Mi-port-til-UDD-DPP-Metodos-cuantitativos-2026\8bd261c9-5169-41cb-9552-7d4577992c2c\scratchpad\img\p2m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37560"/>
            <a:ext cx="4937760" cy="251377"/>
          </a:xfrm>
          <a:prstGeom prst="rect">
            <a:avLst/>
          </a:prstGeom>
        </p:spPr>
      </p:pic>
      <p:pic>
        <p:nvPicPr>
          <p:cNvPr id="7" name="Image 2" descr="C:\Users\aleja\AppData\Local\Temp\claude\G--Otros-ordenadores-Mi-port-til-UDD-DPP-Metodos-cuantitativos-2026\8bd261c9-5169-41cb-9552-7d4577992c2c\scratchpad\img\e2m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03320"/>
            <a:ext cx="4937760" cy="345909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943600" y="1572768"/>
            <a:ext cx="5605272" cy="4287727"/>
          </a:xfrm>
          <a:prstGeom prst="roundRect">
            <a:avLst>
              <a:gd name="adj" fmla="val 1706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2" name="Image 3" descr="C:\Users\aleja\AppData\Local\Temp\claude\G--Otros-ordenadores-Mi-port-til-UDD-DPP-Metodos-cuantitativos-2026\8bd261c9-5169-41cb-9552-7d4577992c2c\scratchpad\img\p2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304288"/>
            <a:ext cx="5056632" cy="429048"/>
          </a:xfrm>
          <a:prstGeom prst="rect">
            <a:avLst/>
          </a:prstGeom>
        </p:spPr>
      </p:pic>
      <p:pic>
        <p:nvPicPr>
          <p:cNvPr id="13" name="Image 4" descr="C:\Users\aleja\AppData\Local\Temp\claude\G--Otros-ordenadores-Mi-port-til-UDD-DPP-Metodos-cuantitativos-2026\8bd261c9-5169-41cb-9552-7d4577992c2c\scratchpad\img\p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2888784"/>
            <a:ext cx="5056632" cy="661959"/>
          </a:xfrm>
          <a:prstGeom prst="rect">
            <a:avLst/>
          </a:prstGeom>
        </p:spPr>
      </p:pic>
      <p:pic>
        <p:nvPicPr>
          <p:cNvPr id="14" name="Image 5" descr="C:\Users\aleja\AppData\Local\Temp\claude\G--Otros-ordenadores-Mi-port-til-UDD-DPP-Metodos-cuantitativos-2026\8bd261c9-5169-41cb-9552-7d4577992c2c\scratchpad\img\p2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706191"/>
            <a:ext cx="5056632" cy="432112"/>
          </a:xfrm>
          <a:prstGeom prst="rect">
            <a:avLst/>
          </a:prstGeom>
        </p:spPr>
      </p:pic>
      <p:pic>
        <p:nvPicPr>
          <p:cNvPr id="15" name="Image 6" descr="C:\Users\aleja\AppData\Local\Temp\claude\G--Otros-ordenadores-Mi-port-til-UDD-DPP-Metodos-cuantitativos-2026\8bd261c9-5169-41cb-9552-7d4577992c2c\scratchpad\img\p2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4293751"/>
            <a:ext cx="5056632" cy="471952"/>
          </a:xfrm>
          <a:prstGeom prst="rect">
            <a:avLst/>
          </a:prstGeom>
        </p:spPr>
      </p:pic>
      <p:pic>
        <p:nvPicPr>
          <p:cNvPr id="5" name="Image 7" descr="C:\Users\aleja\AppData\Local\Temp\claude\G--Otros-ordenadores-Mi-port-til-UDD-DPP-Metodos-cuantitativos-2026\8bd261c9-5169-41cb-9552-7d4577992c2c\scratchpad\img\p2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0" y="4921151"/>
            <a:ext cx="5056632" cy="6650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MICO </a:t>
            </a:r>
            <a:r>
              <a:rPr lang="en-US" sz="2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Multivariado</a:t>
            </a:r>
            <a:endParaRPr lang="en-US" sz="2000" dirty="0"/>
          </a:p>
        </p:txBody>
      </p:sp>
      <p:pic>
        <p:nvPicPr>
          <p:cNvPr id="4" name="Image 0" descr="C:\Users\aleja\AppData\Local\Temp\claude\G--Otros-ordenadores-Mi-port-til-UDD-DPP-Metodos-cuantitativos-2026\8bd261c9-5169-41cb-9552-7d4577992c2c\scratchpad\img\p3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72768"/>
            <a:ext cx="4937760" cy="215466"/>
          </a:xfrm>
          <a:prstGeom prst="rect">
            <a:avLst/>
          </a:prstGeom>
        </p:spPr>
      </p:pic>
      <p:pic>
        <p:nvPicPr>
          <p:cNvPr id="5" name="Image 1" descr="C:\Users\aleja\AppData\Local\Temp\claude\G--Otros-ordenadores-Mi-port-til-UDD-DPP-Metodos-cuantitativos-2026\8bd261c9-5169-41cb-9552-7d4577992c2c\scratchpad\img\e1mode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5074" y="1874520"/>
            <a:ext cx="2747772" cy="347472"/>
          </a:xfrm>
          <a:prstGeom prst="rect">
            <a:avLst/>
          </a:prstGeom>
        </p:spPr>
      </p:pic>
      <p:pic>
        <p:nvPicPr>
          <p:cNvPr id="6" name="Image 2" descr="C:\Users\aleja\AppData\Local\Temp\claude\G--Otros-ordenadores-Mi-port-til-UDD-DPP-Metodos-cuantitativos-2026\8bd261c9-5169-41cb-9552-7d4577992c2c\scratchpad\img\p3int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331720"/>
            <a:ext cx="4937760" cy="625450"/>
          </a:xfrm>
          <a:prstGeom prst="rect">
            <a:avLst/>
          </a:prstGeom>
        </p:spPr>
      </p:pic>
      <p:pic>
        <p:nvPicPr>
          <p:cNvPr id="7" name="Image 3" descr="C:\Users\aleja\AppData\Local\Temp\claude\G--Otros-ordenadores-Mi-port-til-UDD-DPP-Metodos-cuantitativos-2026\8bd261c9-5169-41cb-9552-7d4577992c2c\scratchpad\img\e3m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393" y="3063240"/>
            <a:ext cx="3941135" cy="731520"/>
          </a:xfrm>
          <a:prstGeom prst="rect">
            <a:avLst/>
          </a:prstGeom>
        </p:spPr>
      </p:pic>
      <p:pic>
        <p:nvPicPr>
          <p:cNvPr id="8" name="Image 4" descr="C:\Users\aleja\AppData\Local\Temp\claude\G--Otros-ordenadores-Mi-port-til-UDD-DPP-Metodos-cuantitativos-2026\8bd261c9-5169-41cb-9552-7d4577992c2c\scratchpad\img\p3int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977640"/>
            <a:ext cx="4937760" cy="254369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5943600" y="1572768"/>
            <a:ext cx="5605272" cy="2907792"/>
          </a:xfrm>
          <a:prstGeom prst="roundRect">
            <a:avLst>
              <a:gd name="adj" fmla="val 1938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3" name="Image 5" descr="C:\Users\aleja\AppData\Local\Temp\claude\G--Otros-ordenadores-Mi-port-til-UDD-DPP-Metodos-cuantitativos-2026\8bd261c9-5169-41cb-9552-7d4577992c2c\scratchpad\img\p3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2304288"/>
            <a:ext cx="5056632" cy="453565"/>
          </a:xfrm>
          <a:prstGeom prst="rect">
            <a:avLst/>
          </a:prstGeom>
        </p:spPr>
      </p:pic>
      <p:pic>
        <p:nvPicPr>
          <p:cNvPr id="14" name="Image 6" descr="C:\Users\aleja\AppData\Local\Temp\claude\G--Otros-ordenadores-Mi-port-til-UDD-DPP-Metodos-cuantitativos-2026\8bd261c9-5169-41cb-9552-7d4577992c2c\scratchpad\img\p3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2913301"/>
            <a:ext cx="5056632" cy="281946"/>
          </a:xfrm>
          <a:prstGeom prst="rect">
            <a:avLst/>
          </a:prstGeom>
        </p:spPr>
      </p:pic>
      <p:pic>
        <p:nvPicPr>
          <p:cNvPr id="15" name="Image 7" descr="C:\Users\aleja\AppData\Local\Temp\claude\G--Otros-ordenadores-Mi-port-til-UDD-DPP-Metodos-cuantitativos-2026\8bd261c9-5169-41cb-9552-7d4577992c2c\scratchpad\img\p3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0" y="3350694"/>
            <a:ext cx="5056632" cy="7171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4  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Inferencia: t, F y restricciones lineales</a:t>
            </a:r>
            <a:endParaRPr lang="en-US" sz="2000" dirty="0"/>
          </a:p>
        </p:txBody>
      </p:sp>
      <p:pic>
        <p:nvPicPr>
          <p:cNvPr id="4" name="Image 0" descr="C:\Users\aleja\AppData\Local\Temp\claude\G--Otros-ordenadores-Mi-port-til-UDD-DPP-Metodos-cuantitativos-2026\8bd261c9-5169-41cb-9552-7d4577992c2c\scratchpad\img\p4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72768"/>
            <a:ext cx="4937760" cy="421954"/>
          </a:xfrm>
          <a:prstGeom prst="rect">
            <a:avLst/>
          </a:prstGeom>
        </p:spPr>
      </p:pic>
      <p:pic>
        <p:nvPicPr>
          <p:cNvPr id="5" name="Image 1" descr="C:\Users\aleja\AppData\Local\Temp\claude\G--Otros-ordenadores-Mi-port-til-UDD-DPP-Metodos-cuantitativos-2026\8bd261c9-5169-41cb-9552-7d4577992c2c\scratchpad\img\e4be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57400"/>
            <a:ext cx="4937760" cy="901376"/>
          </a:xfrm>
          <a:prstGeom prst="rect">
            <a:avLst/>
          </a:prstGeom>
        </p:spPr>
      </p:pic>
      <p:pic>
        <p:nvPicPr>
          <p:cNvPr id="6" name="Image 2" descr="C:\Users\aleja\AppData\Local\Temp\claude\G--Otros-ordenadores-Mi-port-til-UDD-DPP-Metodos-cuantitativos-2026\8bd261c9-5169-41cb-9552-7d4577992c2c\scratchpad\img\p4d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66160"/>
            <a:ext cx="4937760" cy="436917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943600" y="1572768"/>
            <a:ext cx="5605272" cy="3176964"/>
          </a:xfrm>
          <a:prstGeom prst="roundRect">
            <a:avLst>
              <a:gd name="adj" fmla="val 2303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1" name="Image 3" descr="C:\Users\aleja\AppData\Local\Temp\claude\G--Otros-ordenadores-Mi-port-til-UDD-DPP-Metodos-cuantitativos-2026\8bd261c9-5169-41cb-9552-7d4577992c2c\scratchpad\img\p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304288"/>
            <a:ext cx="5056632" cy="429048"/>
          </a:xfrm>
          <a:prstGeom prst="rect">
            <a:avLst/>
          </a:prstGeom>
        </p:spPr>
      </p:pic>
      <p:pic>
        <p:nvPicPr>
          <p:cNvPr id="12" name="Image 4" descr="C:\Users\aleja\AppData\Local\Temp\claude\G--Otros-ordenadores-Mi-port-til-UDD-DPP-Metodos-cuantitativos-2026\8bd261c9-5169-41cb-9552-7d4577992c2c\scratchpad\img\p4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2888784"/>
            <a:ext cx="5056632" cy="429048"/>
          </a:xfrm>
          <a:prstGeom prst="rect">
            <a:avLst/>
          </a:prstGeom>
        </p:spPr>
      </p:pic>
      <p:pic>
        <p:nvPicPr>
          <p:cNvPr id="13" name="Image 5" descr="C:\Users\aleja\AppData\Local\Temp\claude\G--Otros-ordenadores-Mi-port-til-UDD-DPP-Metodos-cuantitativos-2026\8bd261c9-5169-41cb-9552-7d4577992c2c\scratchpad\img\p4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473279"/>
            <a:ext cx="5056632" cy="10021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4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Inferencia: t, F y restricciones lineales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datos de la lámina anterior:</a:t>
            </a:r>
            <a:endParaRPr lang="en-US" sz="1350" dirty="0"/>
          </a:p>
        </p:txBody>
      </p:sp>
      <p:pic>
        <p:nvPicPr>
          <p:cNvPr id="5" name="Image 0" descr="C:\Users\aleja\AppData\Local\Temp\claude\G--Otros-ordenadores-Mi-port-til-UDD-DPP-Metodos-cuantitativos-2026\8bd261c9-5169-41cb-9552-7d4577992c2c\scratchpad\img\e4b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4937760" cy="901376"/>
          </a:xfrm>
          <a:prstGeom prst="rect">
            <a:avLst/>
          </a:prstGeom>
        </p:spPr>
      </p:pic>
      <p:pic>
        <p:nvPicPr>
          <p:cNvPr id="6" name="Image 1" descr="C:\Users\aleja\AppData\Local\Temp\claude\G--Otros-ordenadores-Mi-port-til-UDD-DPP-Metodos-cuantitativos-2026\8bd261c9-5169-41cb-9552-7d4577992c2c\scratchpad\img\p4d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29000"/>
            <a:ext cx="4937760" cy="43691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943600" y="1572768"/>
            <a:ext cx="5605272" cy="2861307"/>
          </a:xfrm>
          <a:prstGeom prst="roundRect">
            <a:avLst>
              <a:gd name="adj" fmla="val 2557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1" name="Image 2" descr="C:\Users\aleja\AppData\Local\Temp\claude\G--Otros-ordenadores-Mi-port-til-UDD-DPP-Metodos-cuantitativos-2026\8bd261c9-5169-41cb-9552-7d4577992c2c\scratchpad\img\p4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304288"/>
            <a:ext cx="5056632" cy="447435"/>
          </a:xfrm>
          <a:prstGeom prst="rect">
            <a:avLst/>
          </a:prstGeom>
        </p:spPr>
      </p:pic>
      <p:pic>
        <p:nvPicPr>
          <p:cNvPr id="12" name="Image 3" descr="C:\Users\aleja\AppData\Local\Temp\claude\G--Otros-ordenadores-Mi-port-til-UDD-DPP-Metodos-cuantitativos-2026\8bd261c9-5169-41cb-9552-7d4577992c2c\scratchpad\img\p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907171"/>
            <a:ext cx="5056632" cy="4413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5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Propiedades y demostraciones</a:t>
            </a:r>
            <a:endParaRPr lang="en-US" sz="2000" dirty="0"/>
          </a:p>
        </p:txBody>
      </p:sp>
      <p:pic>
        <p:nvPicPr>
          <p:cNvPr id="4" name="Image 0" descr="C:\Users\aleja\AppData\Local\Temp\claude\G--Otros-ordenadores-Mi-port-til-UDD-DPP-Metodos-cuantitativos-2026\8bd261c9-5169-41cb-9552-7d4577992c2c\scratchpad\img\p5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4937760" cy="21546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011680"/>
            <a:ext cx="5394960" cy="1380910"/>
          </a:xfrm>
          <a:prstGeom prst="roundRect">
            <a:avLst>
              <a:gd name="adj" fmla="val 5297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868680" y="21854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Insesgamiento</a:t>
            </a:r>
            <a:endParaRPr lang="en-US" sz="1250" dirty="0"/>
          </a:p>
        </p:txBody>
      </p:sp>
      <p:pic>
        <p:nvPicPr>
          <p:cNvPr id="7" name="Image 1" descr="C:\Users\aleja\AppData\Local\Temp\claude\G--Otros-ordenadores-Mi-port-til-UDD-DPP-Metodos-cuantitativos-2026\8bd261c9-5169-41cb-9552-7d4577992c2c\scratchpad\img\p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514600"/>
            <a:ext cx="4937760" cy="64939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0" y="2011680"/>
            <a:ext cx="5394960" cy="1162452"/>
          </a:xfrm>
          <a:prstGeom prst="roundRect">
            <a:avLst>
              <a:gd name="adj" fmla="val 6293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5"/>
          <p:cNvSpPr txBox="1"/>
          <p:nvPr/>
        </p:nvSpPr>
        <p:spPr>
          <a:xfrm>
            <a:off x="6629400" y="21854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de los estimadores</a:t>
            </a:r>
            <a:endParaRPr lang="en-US" sz="1250" dirty="0"/>
          </a:p>
        </p:txBody>
      </p:sp>
      <p:pic>
        <p:nvPicPr>
          <p:cNvPr id="10" name="Image 2" descr="C:\Users\aleja\AppData\Local\Temp\claude\G--Otros-ordenadores-Mi-port-til-UDD-DPP-Metodos-cuantitativos-2026\8bd261c9-5169-41cb-9552-7d4577992c2c\scratchpad\img\p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514600"/>
            <a:ext cx="4937760" cy="43093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3666910"/>
            <a:ext cx="5394960" cy="1766953"/>
          </a:xfrm>
          <a:prstGeom prst="roundRect">
            <a:avLst>
              <a:gd name="adj" fmla="val 4140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7"/>
          <p:cNvSpPr txBox="1"/>
          <p:nvPr/>
        </p:nvSpPr>
        <p:spPr>
          <a:xfrm>
            <a:off x="868680" y="384064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por variable omitida</a:t>
            </a:r>
            <a:endParaRPr lang="en-US" sz="1250" dirty="0"/>
          </a:p>
        </p:txBody>
      </p:sp>
      <p:pic>
        <p:nvPicPr>
          <p:cNvPr id="13" name="Image 3" descr="C:\Users\aleja\AppData\Local\Temp\claude\G--Otros-ordenadores-Mi-port-til-UDD-DPP-Metodos-cuantitativos-2026\8bd261c9-5169-41cb-9552-7d4577992c2c\scratchpad\img\p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169830"/>
            <a:ext cx="4937760" cy="1035433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400800" y="3448452"/>
            <a:ext cx="5394960" cy="1162452"/>
          </a:xfrm>
          <a:prstGeom prst="roundRect">
            <a:avLst>
              <a:gd name="adj" fmla="val 6293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9"/>
          <p:cNvSpPr txBox="1"/>
          <p:nvPr/>
        </p:nvSpPr>
        <p:spPr>
          <a:xfrm>
            <a:off x="6629400" y="36221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y R² ajustado</a:t>
            </a:r>
            <a:endParaRPr lang="en-US" sz="1250" dirty="0"/>
          </a:p>
        </p:txBody>
      </p:sp>
      <p:pic>
        <p:nvPicPr>
          <p:cNvPr id="16" name="Image 4" descr="C:\Users\aleja\AppData\Local\Temp\claude\G--Otros-ordenadores-Mi-port-til-UDD-DPP-Metodos-cuantitativos-2026\8bd261c9-5169-41cb-9552-7d4577992c2c\scratchpad\img\p5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951372"/>
            <a:ext cx="4937760" cy="43093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responde con desarrollo, no solo con el </a:t>
            </a:r>
            <a:r>
              <a:rPr lang="en-US" sz="1400" i="1" dirty="0" err="1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r>
              <a:rPr lang="en-US" sz="14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final: en la prueba el procedimiento es lo que se evalúa.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901</Words>
  <Application>Microsoft Office PowerPoint</Application>
  <PresentationFormat>Panorámica</PresentationFormat>
  <Paragraphs>152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Preparación Prueba 1 — Métodos Cuantitativos</dc:title>
  <dc:subject>PptxGenJS Presentation</dc:subject>
  <dc:creator>Alejandra Molina</dc:creator>
  <cp:lastModifiedBy>Alejandra Molina</cp:lastModifiedBy>
  <cp:revision>7</cp:revision>
  <dcterms:created xsi:type="dcterms:W3CDTF">2026-09-28T14:09:20Z</dcterms:created>
  <dcterms:modified xsi:type="dcterms:W3CDTF">2026-09-28T15:15:20Z</dcterms:modified>
</cp:coreProperties>
</file>